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146848837" r:id="rId5"/>
    <p:sldId id="12978" r:id="rId6"/>
    <p:sldId id="261" r:id="rId7"/>
    <p:sldId id="267" r:id="rId8"/>
    <p:sldId id="280" r:id="rId9"/>
    <p:sldId id="2146848834" r:id="rId10"/>
    <p:sldId id="2146848835" r:id="rId11"/>
    <p:sldId id="2146848836" r:id="rId12"/>
    <p:sldId id="2146848838" r:id="rId13"/>
    <p:sldId id="2146848839" r:id="rId14"/>
    <p:sldId id="2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9550C-E752-41B8-997D-3242CB8B0A0E}" v="7" dt="2025-05-27T13:32:18.769"/>
    <p1510:client id="{D06DAB4A-8972-424A-A284-369D71460B21}" v="13" dt="2025-05-27T12:05:11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4507"/>
  </p:normalViewPr>
  <p:slideViewPr>
    <p:cSldViewPr snapToGrid="0">
      <p:cViewPr varScale="1">
        <p:scale>
          <a:sx n="150" d="100"/>
          <a:sy n="150" d="100"/>
        </p:scale>
        <p:origin x="3666" y="126"/>
      </p:cViewPr>
      <p:guideLst>
        <p:guide orient="horz" pos="25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DA2C-4635-CC4A-84D1-088D6387C411}" type="datetimeFigureOut">
              <a:rPr lang="de-DE" smtClean="0"/>
              <a:t>11.03.2026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D5DBE-F660-9F45-B7A6-0F288BE2FE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82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1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34F9F-1537-3D46-AFDC-6D308DD66F02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564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95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77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co_Vorlagen_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ine Ecke des Rechtecks abrunden 1">
            <a:extLst>
              <a:ext uri="{FF2B5EF4-FFF2-40B4-BE49-F238E27FC236}">
                <a16:creationId xmlns:a16="http://schemas.microsoft.com/office/drawing/2014/main" id="{54AEC9CD-ABF8-7A7B-1795-E790404D8ACC}"/>
              </a:ext>
            </a:extLst>
          </p:cNvPr>
          <p:cNvSpPr/>
          <p:nvPr userDrawn="1"/>
        </p:nvSpPr>
        <p:spPr>
          <a:xfrm flipH="1">
            <a:off x="4152900" y="0"/>
            <a:ext cx="8039100" cy="6858000"/>
          </a:xfrm>
          <a:prstGeom prst="round1Rect">
            <a:avLst>
              <a:gd name="adj" fmla="val 203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Tisch enthält.&#10;&#10;Automatisch generierte Beschreibung">
            <a:extLst>
              <a:ext uri="{FF2B5EF4-FFF2-40B4-BE49-F238E27FC236}">
                <a16:creationId xmlns:a16="http://schemas.microsoft.com/office/drawing/2014/main" id="{5B1D34D1-BABC-3141-BD3C-B94E26603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164" y="431800"/>
            <a:ext cx="260350" cy="260350"/>
          </a:xfrm>
          <a:prstGeom prst="rect">
            <a:avLst/>
          </a:prstGeom>
          <a:noFill/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C3C9D20-E034-404F-2E37-41B4AB04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682521"/>
            <a:ext cx="3681358" cy="253813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819CC4CE-4E1B-070A-0C50-3325115E83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1488" y="431800"/>
            <a:ext cx="3681412" cy="2538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9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9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9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9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451325-5FCA-D565-E843-3097CD8C3F63}"/>
              </a:ext>
            </a:extLst>
          </p:cNvPr>
          <p:cNvSpPr txBox="1">
            <a:spLocks/>
          </p:cNvSpPr>
          <p:nvPr userDrawn="1"/>
        </p:nvSpPr>
        <p:spPr>
          <a:xfrm>
            <a:off x="8977314" y="624363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91C1E-7A93-A045-A480-FC8C02E55DB0}" type="slidenum">
              <a:rPr lang="de-DE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‹Nr.›</a:t>
            </a:fld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21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CC69B08-63CB-8B6E-D827-AD187A962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98570EF6-C1FC-D456-16BE-C553E4699414}"/>
              </a:ext>
            </a:extLst>
          </p:cNvPr>
          <p:cNvSpPr txBox="1"/>
          <p:nvPr userDrawn="1"/>
        </p:nvSpPr>
        <p:spPr>
          <a:xfrm>
            <a:off x="8977314" y="624363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91C1E-7A93-A045-A480-FC8C02E55DB0}" type="slidenum">
              <a:rPr lang="de-DE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‹Nr.›</a:t>
            </a:fld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22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6" descr="Presentation cover with centered 'TICKET SYSTEM' text only">
            <a:extLst>
              <a:ext uri="{FF2B5EF4-FFF2-40B4-BE49-F238E27FC236}">
                <a16:creationId xmlns:a16="http://schemas.microsoft.com/office/drawing/2014/main" id="{FCD2D466-46CE-CE33-F88A-522B91F72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45"/>
          <a:stretch>
            <a:fillRect/>
          </a:stretch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3DE776D-67D9-A2EA-EB9D-B909E34B72A8}"/>
              </a:ext>
            </a:extLst>
          </p:cNvPr>
          <p:cNvSpPr txBox="1"/>
          <p:nvPr/>
        </p:nvSpPr>
        <p:spPr>
          <a:xfrm>
            <a:off x="1123567" y="5935980"/>
            <a:ext cx="9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Lernfeld 05	| 	Jamie, Basti und Flo 	| 	Objektorientierte Programmierung</a:t>
            </a:r>
          </a:p>
        </p:txBody>
      </p:sp>
    </p:spTree>
    <p:extLst>
      <p:ext uri="{BB962C8B-B14F-4D97-AF65-F5344CB8AC3E}">
        <p14:creationId xmlns:p14="http://schemas.microsoft.com/office/powerpoint/2010/main" val="333403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F60C5CE-2FA6-7E37-319C-E706B27487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/>
          <a:lstStyle/>
          <a:p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41495C-F529-3718-28A1-FBD02358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5" name="Abgerundetes Rechteck 34">
            <a:extLst>
              <a:ext uri="{FF2B5EF4-FFF2-40B4-BE49-F238E27FC236}">
                <a16:creationId xmlns:a16="http://schemas.microsoft.com/office/drawing/2014/main" id="{7534D120-52E8-2F87-E90B-CDD18BC5A694}"/>
              </a:ext>
            </a:extLst>
          </p:cNvPr>
          <p:cNvSpPr/>
          <p:nvPr/>
        </p:nvSpPr>
        <p:spPr>
          <a:xfrm>
            <a:off x="8108501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Abgerundetes Rechteck 35">
            <a:extLst>
              <a:ext uri="{FF2B5EF4-FFF2-40B4-BE49-F238E27FC236}">
                <a16:creationId xmlns:a16="http://schemas.microsoft.com/office/drawing/2014/main" id="{0CA52B3D-E802-216B-6080-AA58C73EAFA1}"/>
              </a:ext>
            </a:extLst>
          </p:cNvPr>
          <p:cNvSpPr/>
          <p:nvPr/>
        </p:nvSpPr>
        <p:spPr>
          <a:xfrm>
            <a:off x="2238526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5538B6C4-24EB-B7C6-9C83-AAE59A992200}"/>
              </a:ext>
            </a:extLst>
          </p:cNvPr>
          <p:cNvSpPr/>
          <p:nvPr/>
        </p:nvSpPr>
        <p:spPr>
          <a:xfrm>
            <a:off x="307903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9ABE2BDE-2017-644A-E3C0-94E088FDB6DE}"/>
              </a:ext>
            </a:extLst>
          </p:cNvPr>
          <p:cNvSpPr/>
          <p:nvPr/>
        </p:nvSpPr>
        <p:spPr>
          <a:xfrm>
            <a:off x="4178556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Abgerundetes Rechteck 56">
            <a:extLst>
              <a:ext uri="{FF2B5EF4-FFF2-40B4-BE49-F238E27FC236}">
                <a16:creationId xmlns:a16="http://schemas.microsoft.com/office/drawing/2014/main" id="{87BADC77-B7EE-5116-D45F-B4129D87A7B3}"/>
              </a:ext>
            </a:extLst>
          </p:cNvPr>
          <p:cNvSpPr/>
          <p:nvPr/>
        </p:nvSpPr>
        <p:spPr>
          <a:xfrm>
            <a:off x="6136105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8EEF116D-C7BD-67E4-8264-AFABB79ED15A}"/>
              </a:ext>
            </a:extLst>
          </p:cNvPr>
          <p:cNvSpPr/>
          <p:nvPr/>
        </p:nvSpPr>
        <p:spPr>
          <a:xfrm>
            <a:off x="4567751" y="2233028"/>
            <a:ext cx="110611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Diagramme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Textplatzhalter 2">
            <a:extLst>
              <a:ext uri="{FF2B5EF4-FFF2-40B4-BE49-F238E27FC236}">
                <a16:creationId xmlns:a16="http://schemas.microsoft.com/office/drawing/2014/main" id="{E497BCA1-CAB3-572E-35A8-67FAD23EE8FA}"/>
              </a:ext>
            </a:extLst>
          </p:cNvPr>
          <p:cNvSpPr txBox="1">
            <a:spLocks/>
          </p:cNvSpPr>
          <p:nvPr/>
        </p:nvSpPr>
        <p:spPr>
          <a:xfrm>
            <a:off x="4280455" y="3183361"/>
            <a:ext cx="1644381" cy="15891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Anwendungsfalldiagramm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Klassendiagramm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Objektdiagramm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Aktivitätsdiagramm</a:t>
            </a:r>
            <a:endParaRPr lang="de-DE" sz="11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84B59EE0-FC14-B966-7D16-0642B3C69135}"/>
              </a:ext>
            </a:extLst>
          </p:cNvPr>
          <p:cNvSpPr txBox="1"/>
          <p:nvPr/>
        </p:nvSpPr>
        <p:spPr>
          <a:xfrm>
            <a:off x="6168368" y="2233028"/>
            <a:ext cx="17703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Benutzeroberfläche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5871ECCD-5B18-E894-43B5-9163572EC038}"/>
              </a:ext>
            </a:extLst>
          </p:cNvPr>
          <p:cNvSpPr txBox="1">
            <a:spLocks/>
          </p:cNvSpPr>
          <p:nvPr/>
        </p:nvSpPr>
        <p:spPr>
          <a:xfrm>
            <a:off x="6362964" y="3183361"/>
            <a:ext cx="1418324" cy="13667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Navigation und Benutzerführung</a:t>
            </a:r>
            <a:endParaRPr lang="de-DE" sz="7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B26F46D8-E774-7D26-1622-E0991C099A66}"/>
              </a:ext>
            </a:extLst>
          </p:cNvPr>
          <p:cNvSpPr txBox="1"/>
          <p:nvPr/>
        </p:nvSpPr>
        <p:spPr>
          <a:xfrm>
            <a:off x="8155971" y="2232693"/>
            <a:ext cx="174284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Implementierung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87965109-E096-3253-1418-665D15C81BF2}"/>
              </a:ext>
            </a:extLst>
          </p:cNvPr>
          <p:cNvSpPr txBox="1"/>
          <p:nvPr/>
        </p:nvSpPr>
        <p:spPr>
          <a:xfrm>
            <a:off x="647369" y="2228988"/>
            <a:ext cx="1193654" cy="20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40"/>
              </a:lnSpc>
            </a:pP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Einleitung</a:t>
            </a:r>
          </a:p>
        </p:txBody>
      </p:sp>
      <p:sp>
        <p:nvSpPr>
          <p:cNvPr id="64" name="Textplatzhalter 2">
            <a:extLst>
              <a:ext uri="{FF2B5EF4-FFF2-40B4-BE49-F238E27FC236}">
                <a16:creationId xmlns:a16="http://schemas.microsoft.com/office/drawing/2014/main" id="{4A13B592-401E-8233-58BC-FDC13EA9DD54}"/>
              </a:ext>
            </a:extLst>
          </p:cNvPr>
          <p:cNvSpPr txBox="1">
            <a:spLocks/>
          </p:cNvSpPr>
          <p:nvPr/>
        </p:nvSpPr>
        <p:spPr>
          <a:xfrm>
            <a:off x="531630" y="3183361"/>
            <a:ext cx="1423988" cy="15891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Vorstellung des Projekts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Zielsetzung des Ticketsystems</a:t>
            </a:r>
            <a:endParaRPr lang="de-DE" sz="800" dirty="0"/>
          </a:p>
        </p:txBody>
      </p: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3CD17C2A-A157-3AC1-B82A-6703FA7E9700}"/>
              </a:ext>
            </a:extLst>
          </p:cNvPr>
          <p:cNvCxnSpPr>
            <a:cxnSpLocks/>
          </p:cNvCxnSpPr>
          <p:nvPr/>
        </p:nvCxnSpPr>
        <p:spPr>
          <a:xfrm>
            <a:off x="4577998" y="3084955"/>
            <a:ext cx="11061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89815137-51C4-80E1-66B9-B1A5521DF3C1}"/>
              </a:ext>
            </a:extLst>
          </p:cNvPr>
          <p:cNvCxnSpPr>
            <a:cxnSpLocks/>
          </p:cNvCxnSpPr>
          <p:nvPr/>
        </p:nvCxnSpPr>
        <p:spPr>
          <a:xfrm>
            <a:off x="6535547" y="3084955"/>
            <a:ext cx="11061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66">
            <a:extLst>
              <a:ext uri="{FF2B5EF4-FFF2-40B4-BE49-F238E27FC236}">
                <a16:creationId xmlns:a16="http://schemas.microsoft.com/office/drawing/2014/main" id="{BA524D52-24F0-4F49-F3FC-977956B6A2F8}"/>
              </a:ext>
            </a:extLst>
          </p:cNvPr>
          <p:cNvCxnSpPr>
            <a:cxnSpLocks/>
          </p:cNvCxnSpPr>
          <p:nvPr/>
        </p:nvCxnSpPr>
        <p:spPr>
          <a:xfrm>
            <a:off x="707345" y="3063983"/>
            <a:ext cx="11061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erade Verbindung 67">
            <a:extLst>
              <a:ext uri="{FF2B5EF4-FFF2-40B4-BE49-F238E27FC236}">
                <a16:creationId xmlns:a16="http://schemas.microsoft.com/office/drawing/2014/main" id="{B24C92E3-9A31-C001-8344-5CF5FDD33679}"/>
              </a:ext>
            </a:extLst>
          </p:cNvPr>
          <p:cNvCxnSpPr>
            <a:cxnSpLocks/>
          </p:cNvCxnSpPr>
          <p:nvPr/>
        </p:nvCxnSpPr>
        <p:spPr>
          <a:xfrm>
            <a:off x="8523981" y="3084955"/>
            <a:ext cx="12228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1D918928-EA58-7C11-5F01-3DA0422122CA}"/>
              </a:ext>
            </a:extLst>
          </p:cNvPr>
          <p:cNvSpPr txBox="1"/>
          <p:nvPr/>
        </p:nvSpPr>
        <p:spPr>
          <a:xfrm>
            <a:off x="2518761" y="2227262"/>
            <a:ext cx="1367329" cy="20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40"/>
              </a:lnSpc>
            </a:pP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Projektplanung</a:t>
            </a:r>
          </a:p>
        </p:txBody>
      </p:sp>
      <p:sp>
        <p:nvSpPr>
          <p:cNvPr id="70" name="Textplatzhalter 2">
            <a:extLst>
              <a:ext uri="{FF2B5EF4-FFF2-40B4-BE49-F238E27FC236}">
                <a16:creationId xmlns:a16="http://schemas.microsoft.com/office/drawing/2014/main" id="{774696FE-344B-EFE4-11F8-B85B9ADA7C83}"/>
              </a:ext>
            </a:extLst>
          </p:cNvPr>
          <p:cNvSpPr txBox="1">
            <a:spLocks/>
          </p:cNvSpPr>
          <p:nvPr/>
        </p:nvSpPr>
        <p:spPr>
          <a:xfrm>
            <a:off x="2366063" y="3183361"/>
            <a:ext cx="1597999" cy="14565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Anforderung und Zielgruppe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Projektmanagement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Tools</a:t>
            </a:r>
            <a:endParaRPr lang="de-DE" sz="800" dirty="0"/>
          </a:p>
        </p:txBody>
      </p:sp>
      <p:cxnSp>
        <p:nvCxnSpPr>
          <p:cNvPr id="71" name="Gerade Verbindung 70">
            <a:extLst>
              <a:ext uri="{FF2B5EF4-FFF2-40B4-BE49-F238E27FC236}">
                <a16:creationId xmlns:a16="http://schemas.microsoft.com/office/drawing/2014/main" id="{E14569E7-DFE2-4D7B-72AA-1D2E4477EE4E}"/>
              </a:ext>
            </a:extLst>
          </p:cNvPr>
          <p:cNvCxnSpPr>
            <a:cxnSpLocks/>
          </p:cNvCxnSpPr>
          <p:nvPr/>
        </p:nvCxnSpPr>
        <p:spPr>
          <a:xfrm>
            <a:off x="2776565" y="3048741"/>
            <a:ext cx="11061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4B7408EF-39AD-003D-AD40-36D70BF16894}"/>
              </a:ext>
            </a:extLst>
          </p:cNvPr>
          <p:cNvSpPr txBox="1">
            <a:spLocks/>
          </p:cNvSpPr>
          <p:nvPr/>
        </p:nvSpPr>
        <p:spPr>
          <a:xfrm>
            <a:off x="8328520" y="3156114"/>
            <a:ext cx="1418324" cy="13667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Wichtige Codebeispiele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Herausforderungen und Lösungen</a:t>
            </a:r>
            <a:endParaRPr lang="de-DE" sz="700" dirty="0"/>
          </a:p>
        </p:txBody>
      </p:sp>
      <p:sp>
        <p:nvSpPr>
          <p:cNvPr id="5" name="Abgerundetes Rechteck 36">
            <a:extLst>
              <a:ext uri="{FF2B5EF4-FFF2-40B4-BE49-F238E27FC236}">
                <a16:creationId xmlns:a16="http://schemas.microsoft.com/office/drawing/2014/main" id="{E28A66E5-686A-8304-D15E-E0334F50BC43}"/>
              </a:ext>
            </a:extLst>
          </p:cNvPr>
          <p:cNvSpPr/>
          <p:nvPr/>
        </p:nvSpPr>
        <p:spPr>
          <a:xfrm>
            <a:off x="10080897" y="1586271"/>
            <a:ext cx="1828724" cy="346439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457918" dist="38100" dir="5400000" sx="103000" sy="103000" algn="t" rotWithShape="0">
              <a:prstClr val="black">
                <a:alpha val="2075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061E58-4915-A7F5-A96F-BAA9E7AF438C}"/>
              </a:ext>
            </a:extLst>
          </p:cNvPr>
          <p:cNvSpPr txBox="1"/>
          <p:nvPr/>
        </p:nvSpPr>
        <p:spPr>
          <a:xfrm>
            <a:off x="10458302" y="2228988"/>
            <a:ext cx="1193654" cy="4103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40"/>
              </a:lnSpc>
            </a:pPr>
            <a:r>
              <a:rPr lang="de-DE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Fazit und Ausblick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08BA6A61-3624-7E19-900C-E6EDD04A53BB}"/>
              </a:ext>
            </a:extLst>
          </p:cNvPr>
          <p:cNvSpPr txBox="1">
            <a:spLocks/>
          </p:cNvSpPr>
          <p:nvPr/>
        </p:nvSpPr>
        <p:spPr>
          <a:xfrm>
            <a:off x="10342563" y="3183361"/>
            <a:ext cx="1423988" cy="15891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Vorstellung des Projekts</a:t>
            </a:r>
          </a:p>
          <a:p>
            <a:pPr algn="ctr">
              <a:lnSpc>
                <a:spcPts val="1520"/>
              </a:lnSpc>
              <a:spcBef>
                <a:spcPts val="0"/>
              </a:spcBef>
            </a:pPr>
            <a:endParaRPr lang="de-DE" sz="1100" b="1" dirty="0"/>
          </a:p>
          <a:p>
            <a:pPr algn="ctr">
              <a:lnSpc>
                <a:spcPts val="1520"/>
              </a:lnSpc>
              <a:spcBef>
                <a:spcPts val="0"/>
              </a:spcBef>
            </a:pPr>
            <a:r>
              <a:rPr lang="de-DE" sz="1100" b="1" dirty="0"/>
              <a:t>Zielsetzung des Ticketsystems</a:t>
            </a:r>
            <a:endParaRPr lang="de-DE" sz="800" dirty="0"/>
          </a:p>
        </p:txBody>
      </p:sp>
      <p:cxnSp>
        <p:nvCxnSpPr>
          <p:cNvPr id="10" name="Gerade Verbindung 66">
            <a:extLst>
              <a:ext uri="{FF2B5EF4-FFF2-40B4-BE49-F238E27FC236}">
                <a16:creationId xmlns:a16="http://schemas.microsoft.com/office/drawing/2014/main" id="{92A16296-7355-196A-5E9C-D2AA7C16C07C}"/>
              </a:ext>
            </a:extLst>
          </p:cNvPr>
          <p:cNvCxnSpPr>
            <a:cxnSpLocks/>
          </p:cNvCxnSpPr>
          <p:nvPr/>
        </p:nvCxnSpPr>
        <p:spPr>
          <a:xfrm>
            <a:off x="10518278" y="3063983"/>
            <a:ext cx="11061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689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ine Ecke des Rechtecks abrunden 5">
            <a:extLst>
              <a:ext uri="{FF2B5EF4-FFF2-40B4-BE49-F238E27FC236}">
                <a16:creationId xmlns:a16="http://schemas.microsoft.com/office/drawing/2014/main" id="{F675962C-7325-C7DF-1165-2669ECD7ABCA}"/>
              </a:ext>
            </a:extLst>
          </p:cNvPr>
          <p:cNvSpPr/>
          <p:nvPr/>
        </p:nvSpPr>
        <p:spPr>
          <a:xfrm flipH="1">
            <a:off x="466540" y="1239633"/>
            <a:ext cx="11720514" cy="5618367"/>
          </a:xfrm>
          <a:prstGeom prst="round1Rect">
            <a:avLst>
              <a:gd name="adj" fmla="val 203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9750F76-1F2F-3142-AD1A-95DAB6B5A8C3}"/>
              </a:ext>
            </a:extLst>
          </p:cNvPr>
          <p:cNvSpPr/>
          <p:nvPr/>
        </p:nvSpPr>
        <p:spPr>
          <a:xfrm>
            <a:off x="6456320" y="1395662"/>
            <a:ext cx="3804320" cy="5176052"/>
          </a:xfrm>
          <a:prstGeom prst="roundRect">
            <a:avLst>
              <a:gd name="adj" fmla="val 12942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295650" sx="104664" sy="104664" algn="ctr" rotWithShape="0">
              <a:prstClr val="black">
                <a:alpha val="98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814E082-E875-4C58-1DF2-2F7788160123}"/>
              </a:ext>
            </a:extLst>
          </p:cNvPr>
          <p:cNvSpPr/>
          <p:nvPr/>
        </p:nvSpPr>
        <p:spPr>
          <a:xfrm>
            <a:off x="2463289" y="1395663"/>
            <a:ext cx="3804320" cy="5176053"/>
          </a:xfrm>
          <a:prstGeom prst="roundRect">
            <a:avLst>
              <a:gd name="adj" fmla="val 12942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295650" sx="104664" sy="104664" algn="ctr" rotWithShape="0">
              <a:prstClr val="black">
                <a:alpha val="98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E1C9E4C9-D4AE-EF3E-0BE6-68B431FA5739}"/>
              </a:ext>
            </a:extLst>
          </p:cNvPr>
          <p:cNvSpPr/>
          <p:nvPr/>
        </p:nvSpPr>
        <p:spPr>
          <a:xfrm>
            <a:off x="2703187" y="2172484"/>
            <a:ext cx="3409308" cy="4253516"/>
          </a:xfrm>
          <a:prstGeom prst="roundRect">
            <a:avLst>
              <a:gd name="adj" fmla="val 19653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550F047-1760-9D35-C2CA-24934B42EACF}"/>
              </a:ext>
            </a:extLst>
          </p:cNvPr>
          <p:cNvSpPr/>
          <p:nvPr/>
        </p:nvSpPr>
        <p:spPr>
          <a:xfrm>
            <a:off x="5425488" y="3466833"/>
            <a:ext cx="1803654" cy="2148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7DC03D0-F5ED-2E0E-BE53-986A47B11644}"/>
              </a:ext>
            </a:extLst>
          </p:cNvPr>
          <p:cNvSpPr/>
          <p:nvPr/>
        </p:nvSpPr>
        <p:spPr>
          <a:xfrm>
            <a:off x="3488021" y="3466833"/>
            <a:ext cx="1803654" cy="2148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A2E33A2-EA18-998C-328C-7DA2041ED6F7}"/>
              </a:ext>
            </a:extLst>
          </p:cNvPr>
          <p:cNvSpPr/>
          <p:nvPr/>
        </p:nvSpPr>
        <p:spPr>
          <a:xfrm>
            <a:off x="7268443" y="3466833"/>
            <a:ext cx="1803654" cy="2148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BF26AED-8F1A-11AF-4FEE-262D11A81F3F}"/>
              </a:ext>
            </a:extLst>
          </p:cNvPr>
          <p:cNvSpPr/>
          <p:nvPr/>
        </p:nvSpPr>
        <p:spPr>
          <a:xfrm>
            <a:off x="2861275" y="1598299"/>
            <a:ext cx="3008348" cy="256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Vorstellung des Projekts: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6352BA2-6F62-8ECB-60A3-16B36DB1482E}"/>
              </a:ext>
            </a:extLst>
          </p:cNvPr>
          <p:cNvSpPr/>
          <p:nvPr/>
        </p:nvSpPr>
        <p:spPr>
          <a:xfrm>
            <a:off x="7354499" y="1625656"/>
            <a:ext cx="2021305" cy="204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Ziel des Projekts: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3B361756-8671-5703-9EE4-B42420FFD5CF}"/>
              </a:ext>
            </a:extLst>
          </p:cNvPr>
          <p:cNvSpPr/>
          <p:nvPr/>
        </p:nvSpPr>
        <p:spPr>
          <a:xfrm>
            <a:off x="6667270" y="2172484"/>
            <a:ext cx="3395765" cy="4253516"/>
          </a:xfrm>
          <a:prstGeom prst="roundRect">
            <a:avLst>
              <a:gd name="adj" fmla="val 24018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itel 1">
            <a:extLst>
              <a:ext uri="{FF2B5EF4-FFF2-40B4-BE49-F238E27FC236}">
                <a16:creationId xmlns:a16="http://schemas.microsoft.com/office/drawing/2014/main" id="{0F771FF0-38CE-8CD9-BB84-D11EF6103F7E}"/>
              </a:ext>
            </a:extLst>
          </p:cNvPr>
          <p:cNvSpPr txBox="1">
            <a:spLocks/>
          </p:cNvSpPr>
          <p:nvPr/>
        </p:nvSpPr>
        <p:spPr>
          <a:xfrm>
            <a:off x="471486" y="684000"/>
            <a:ext cx="5808669" cy="23812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Einleitung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BFEAAAA8-C659-2554-A1EE-926EE32A29A0}"/>
              </a:ext>
            </a:extLst>
          </p:cNvPr>
          <p:cNvSpPr txBox="1">
            <a:spLocks/>
          </p:cNvSpPr>
          <p:nvPr/>
        </p:nvSpPr>
        <p:spPr>
          <a:xfrm>
            <a:off x="471488" y="432000"/>
            <a:ext cx="5808754" cy="238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indent="0" algn="l" defTabSz="914400" rtl="0" eaLnBrk="1" latinLnBrk="0" hangingPunct="1"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accent4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E3C79A-1691-DDAC-411C-782F2F917D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7314" y="624363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91C1E-7A93-A045-A480-FC8C02E55DB0}" type="slidenum">
              <a:rPr lang="de-DE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DE55D30-6935-18F2-C818-A60A977B3137}"/>
              </a:ext>
            </a:extLst>
          </p:cNvPr>
          <p:cNvSpPr txBox="1"/>
          <p:nvPr/>
        </p:nvSpPr>
        <p:spPr>
          <a:xfrm>
            <a:off x="2975811" y="2454442"/>
            <a:ext cx="28938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Ticketsystem für Unternehmen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Kategorien für Organisation und Planung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Prioritäten Setzung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69F089-D0F4-159B-5E66-2482F58F52C4}"/>
              </a:ext>
            </a:extLst>
          </p:cNvPr>
          <p:cNvSpPr txBox="1"/>
          <p:nvPr/>
        </p:nvSpPr>
        <p:spPr>
          <a:xfrm>
            <a:off x="6897329" y="2454442"/>
            <a:ext cx="31325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Effiziente Verwaltung von Anfragen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Schöne und übersichtliche Oberfläche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Priorisierung und Kategorisierung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Optimierung der internen Zusammenarbeit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Erhöhung der Zufriedenheit</a:t>
            </a:r>
          </a:p>
        </p:txBody>
      </p:sp>
    </p:spTree>
    <p:extLst>
      <p:ext uri="{BB962C8B-B14F-4D97-AF65-F5344CB8AC3E}">
        <p14:creationId xmlns:p14="http://schemas.microsoft.com/office/powerpoint/2010/main" val="395540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1BD1B62B-5CAE-A024-6597-3BD03ED3AD81}"/>
              </a:ext>
            </a:extLst>
          </p:cNvPr>
          <p:cNvCxnSpPr>
            <a:cxnSpLocks/>
          </p:cNvCxnSpPr>
          <p:nvPr/>
        </p:nvCxnSpPr>
        <p:spPr>
          <a:xfrm>
            <a:off x="487722" y="3546844"/>
            <a:ext cx="106959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ABDC11F-820B-34B1-2222-054D0AAC33AC}"/>
              </a:ext>
            </a:extLst>
          </p:cNvPr>
          <p:cNvSpPr/>
          <p:nvPr/>
        </p:nvSpPr>
        <p:spPr>
          <a:xfrm>
            <a:off x="2148487" y="3500278"/>
            <a:ext cx="93133" cy="93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B0A73FD-82A7-6766-D295-EA9D38EED717}"/>
              </a:ext>
            </a:extLst>
          </p:cNvPr>
          <p:cNvSpPr txBox="1"/>
          <p:nvPr/>
        </p:nvSpPr>
        <p:spPr>
          <a:xfrm>
            <a:off x="572584" y="2361540"/>
            <a:ext cx="2631857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Projektabforderungen und Funktionen des Ticketsystems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3986437-5D1A-C58E-489B-67B9C7394544}"/>
              </a:ext>
            </a:extLst>
          </p:cNvPr>
          <p:cNvSpPr txBox="1"/>
          <p:nvPr/>
        </p:nvSpPr>
        <p:spPr>
          <a:xfrm>
            <a:off x="2191005" y="3910964"/>
            <a:ext cx="2117909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Definition der Zielgruppe und Nutzer des Systems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2B8916-AD31-0E72-C158-0C9EA6D27446}"/>
              </a:ext>
            </a:extLst>
          </p:cNvPr>
          <p:cNvSpPr txBox="1"/>
          <p:nvPr/>
        </p:nvSpPr>
        <p:spPr>
          <a:xfrm>
            <a:off x="4067528" y="2361540"/>
            <a:ext cx="2290613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Klare Aufgabenverteilung innerhalb des Projektteams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E0F0472-24F1-BD4B-0F58-B82E3FF78817}"/>
              </a:ext>
            </a:extLst>
          </p:cNvPr>
          <p:cNvSpPr txBox="1"/>
          <p:nvPr/>
        </p:nvSpPr>
        <p:spPr>
          <a:xfrm>
            <a:off x="5930405" y="3910964"/>
            <a:ext cx="18994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Einsatzbereiche und praktische Nutzung des Tickets Systems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DA9BFEE6-83CD-78C7-BBF1-6BCE97681AB2}"/>
              </a:ext>
            </a:extLst>
          </p:cNvPr>
          <p:cNvCxnSpPr>
            <a:cxnSpLocks/>
          </p:cNvCxnSpPr>
          <p:nvPr/>
        </p:nvCxnSpPr>
        <p:spPr>
          <a:xfrm>
            <a:off x="557513" y="2208154"/>
            <a:ext cx="0" cy="1292125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CF2C2B5E-9B8D-1CFD-F45C-5E7E27C44367}"/>
              </a:ext>
            </a:extLst>
          </p:cNvPr>
          <p:cNvSpPr txBox="1"/>
          <p:nvPr/>
        </p:nvSpPr>
        <p:spPr>
          <a:xfrm>
            <a:off x="7775135" y="2361540"/>
            <a:ext cx="3606206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Umfassende Dokumentation des Projektverlaufs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09D11E5-D700-2E7F-CEC8-3EA9887C881F}"/>
              </a:ext>
            </a:extLst>
          </p:cNvPr>
          <p:cNvSpPr txBox="1"/>
          <p:nvPr/>
        </p:nvSpPr>
        <p:spPr>
          <a:xfrm>
            <a:off x="9645119" y="3910964"/>
            <a:ext cx="2338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Verwendete Tools. Frameworks und Technologien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ABB6D1C-9B6E-03B2-F42F-681634907E93}"/>
              </a:ext>
            </a:extLst>
          </p:cNvPr>
          <p:cNvSpPr/>
          <p:nvPr/>
        </p:nvSpPr>
        <p:spPr>
          <a:xfrm>
            <a:off x="4003379" y="3500278"/>
            <a:ext cx="93133" cy="93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26C3262-5B8F-CEF0-0867-4B429ED0C28A}"/>
              </a:ext>
            </a:extLst>
          </p:cNvPr>
          <p:cNvSpPr/>
          <p:nvPr/>
        </p:nvSpPr>
        <p:spPr>
          <a:xfrm>
            <a:off x="9494340" y="3500278"/>
            <a:ext cx="93133" cy="93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6A4CD892-AE08-096D-B53E-A8FB50F1AF2E}"/>
              </a:ext>
            </a:extLst>
          </p:cNvPr>
          <p:cNvCxnSpPr>
            <a:cxnSpLocks/>
          </p:cNvCxnSpPr>
          <p:nvPr/>
        </p:nvCxnSpPr>
        <p:spPr>
          <a:xfrm>
            <a:off x="4052757" y="2208154"/>
            <a:ext cx="0" cy="129212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E7D3B7EE-7C7C-2CC5-CE6D-91EA58E83A96}"/>
              </a:ext>
            </a:extLst>
          </p:cNvPr>
          <p:cNvCxnSpPr>
            <a:cxnSpLocks/>
          </p:cNvCxnSpPr>
          <p:nvPr/>
        </p:nvCxnSpPr>
        <p:spPr>
          <a:xfrm>
            <a:off x="7761559" y="2208154"/>
            <a:ext cx="0" cy="129212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B8BC845-E9E3-4E97-94DD-B85CFC368377}"/>
              </a:ext>
            </a:extLst>
          </p:cNvPr>
          <p:cNvSpPr/>
          <p:nvPr/>
        </p:nvSpPr>
        <p:spPr>
          <a:xfrm>
            <a:off x="471488" y="3469424"/>
            <a:ext cx="154840" cy="1548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BC4123E7-4E32-F8FB-3368-99C6CD845FBD}"/>
              </a:ext>
            </a:extLst>
          </p:cNvPr>
          <p:cNvCxnSpPr>
            <a:cxnSpLocks/>
          </p:cNvCxnSpPr>
          <p:nvPr/>
        </p:nvCxnSpPr>
        <p:spPr>
          <a:xfrm>
            <a:off x="2193644" y="3546844"/>
            <a:ext cx="0" cy="1292125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7A9C6A7A-81BD-2ACA-047F-639C3A29C051}"/>
              </a:ext>
            </a:extLst>
          </p:cNvPr>
          <p:cNvCxnSpPr>
            <a:cxnSpLocks/>
          </p:cNvCxnSpPr>
          <p:nvPr/>
        </p:nvCxnSpPr>
        <p:spPr>
          <a:xfrm>
            <a:off x="9540907" y="3524439"/>
            <a:ext cx="0" cy="131453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5712487-4CF5-5931-9C73-DDA956CC6354}"/>
              </a:ext>
            </a:extLst>
          </p:cNvPr>
          <p:cNvSpPr/>
          <p:nvPr/>
        </p:nvSpPr>
        <p:spPr>
          <a:xfrm>
            <a:off x="7720129" y="3500278"/>
            <a:ext cx="93133" cy="93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2" name="Titel 1">
            <a:extLst>
              <a:ext uri="{FF2B5EF4-FFF2-40B4-BE49-F238E27FC236}">
                <a16:creationId xmlns:a16="http://schemas.microsoft.com/office/drawing/2014/main" id="{185C620B-6EBB-EEF5-D2D2-DF017ADCF9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6328" y="684000"/>
            <a:ext cx="5808663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Projektplanung</a:t>
            </a:r>
          </a:p>
        </p:txBody>
      </p:sp>
      <p:sp>
        <p:nvSpPr>
          <p:cNvPr id="63" name="Textplatzhalter 6">
            <a:extLst>
              <a:ext uri="{FF2B5EF4-FFF2-40B4-BE49-F238E27FC236}">
                <a16:creationId xmlns:a16="http://schemas.microsoft.com/office/drawing/2014/main" id="{1304562A-D2C8-0C45-9A5A-52C98E1691CB}"/>
              </a:ext>
            </a:extLst>
          </p:cNvPr>
          <p:cNvSpPr txBox="1">
            <a:spLocks/>
          </p:cNvSpPr>
          <p:nvPr/>
        </p:nvSpPr>
        <p:spPr>
          <a:xfrm>
            <a:off x="471488" y="432000"/>
            <a:ext cx="5808754" cy="238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indent="0" algn="l" defTabSz="914400" rtl="0" eaLnBrk="1" latinLnBrk="0" hangingPunct="1"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accent4"/>
              </a:solidFill>
            </a:endParaRPr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440617C3-0870-A4F4-92C4-A649A7AB7D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34D6113D-51CF-DD57-64B3-5FC9179056B3}"/>
              </a:ext>
            </a:extLst>
          </p:cNvPr>
          <p:cNvCxnSpPr>
            <a:cxnSpLocks/>
          </p:cNvCxnSpPr>
          <p:nvPr/>
        </p:nvCxnSpPr>
        <p:spPr>
          <a:xfrm>
            <a:off x="5919784" y="3583158"/>
            <a:ext cx="0" cy="12558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668AE63C-2529-450F-6261-2F980083B128}"/>
              </a:ext>
            </a:extLst>
          </p:cNvPr>
          <p:cNvSpPr/>
          <p:nvPr/>
        </p:nvSpPr>
        <p:spPr>
          <a:xfrm>
            <a:off x="5837579" y="3469424"/>
            <a:ext cx="154840" cy="1548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DC24075-B269-718D-F9F9-CC7AC94D9E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7532" y="640199"/>
            <a:ext cx="261707" cy="2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9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F24B5F8-3637-F60D-0612-9E3B0AFEF42C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E82A71CA-BC66-B8F8-806D-BABC2C24914A}"/>
              </a:ext>
            </a:extLst>
          </p:cNvPr>
          <p:cNvSpPr>
            <a:spLocks noGrp="1"/>
          </p:cNvSpPr>
          <p:nvPr/>
        </p:nvSpPr>
        <p:spPr>
          <a:xfrm>
            <a:off x="471484" y="548120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Anwendungsfalldiagramm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3232AF7-034C-386F-66E1-9003CB21CC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6430ABE-C714-6774-EDC4-02E44B186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455" y="956256"/>
            <a:ext cx="8939737" cy="58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5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A435-480F-8ADC-0406-0F9C8F80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B7C49AC-6EFA-38B9-E192-9FAD19D527A1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C9853651-E72A-288B-7483-4CF76118C1D7}"/>
              </a:ext>
            </a:extLst>
          </p:cNvPr>
          <p:cNvSpPr>
            <a:spLocks noGrp="1"/>
          </p:cNvSpPr>
          <p:nvPr/>
        </p:nvSpPr>
        <p:spPr>
          <a:xfrm>
            <a:off x="471482" y="561400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Klassendiagramm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8A59876-741E-1EBC-FCF7-E2CC937D28B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92AA2D-059F-E931-8A9B-D2321003B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064" y="956256"/>
            <a:ext cx="8944899" cy="58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96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9A4C-459E-CA3A-F0A7-62455AEF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50E011AE-41FD-0E38-3D34-CA215C82C2DD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6959E7E8-9282-192F-3057-37F798FF761D}"/>
              </a:ext>
            </a:extLst>
          </p:cNvPr>
          <p:cNvSpPr>
            <a:spLocks noGrp="1"/>
          </p:cNvSpPr>
          <p:nvPr/>
        </p:nvSpPr>
        <p:spPr>
          <a:xfrm>
            <a:off x="471484" y="551062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Objektdiagramm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04C61A5-DE10-74FB-0EAF-B491DA1AE4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pic>
        <p:nvPicPr>
          <p:cNvPr id="6" name="Grafik 5" descr="Ein Bild, das Text, Handschrift, Diagramm, Zahl enthält.&#10;&#10;KI-generierte Inhalte können fehlerhaft sein.">
            <a:extLst>
              <a:ext uri="{FF2B5EF4-FFF2-40B4-BE49-F238E27FC236}">
                <a16:creationId xmlns:a16="http://schemas.microsoft.com/office/drawing/2014/main" id="{DFF8AA17-C7DC-1C59-3D06-18B3C2EFE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455" y="1074763"/>
            <a:ext cx="8517415" cy="562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74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F4E7-B242-C158-28C9-67FB8AF8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DB59FEFE-DAC4-0C53-AEA0-1DE3DE7FEEA5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45E1846E-3DCB-51EB-1B30-A39B135DCDFA}"/>
              </a:ext>
            </a:extLst>
          </p:cNvPr>
          <p:cNvSpPr>
            <a:spLocks noGrp="1"/>
          </p:cNvSpPr>
          <p:nvPr/>
        </p:nvSpPr>
        <p:spPr>
          <a:xfrm>
            <a:off x="471637" y="548642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Aktivitätsdiagramm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7879E9A-0D4F-085D-18DA-041EBAA9BE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7DFE952-22EE-8136-3E28-FFB8A4C8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473" y="149702"/>
            <a:ext cx="5978135" cy="6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02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A45B-4C03-B2EF-D40D-0FC4576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934273F-3A7C-4CE8-F58E-B51661B60AC4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387C91DA-9CB4-2C20-7C52-664B1ECBE03D}"/>
              </a:ext>
            </a:extLst>
          </p:cNvPr>
          <p:cNvSpPr>
            <a:spLocks noGrp="1"/>
          </p:cNvSpPr>
          <p:nvPr/>
        </p:nvSpPr>
        <p:spPr>
          <a:xfrm>
            <a:off x="471637" y="548642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Benutzeroberfläche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193ECC4-6E98-4D31-F02F-EEE13FE8442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EB96A67-1B89-9011-3C25-3472BFDD7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353" y="945793"/>
            <a:ext cx="9696333" cy="581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35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0F8E-0D38-125F-FC51-66C03E1E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>
            <a:extLst>
              <a:ext uri="{FF2B5EF4-FFF2-40B4-BE49-F238E27FC236}">
                <a16:creationId xmlns:a16="http://schemas.microsoft.com/office/drawing/2014/main" id="{D7FB6064-289C-09FC-B1D2-972DBE5F6BE3}"/>
              </a:ext>
            </a:extLst>
          </p:cNvPr>
          <p:cNvSpPr>
            <a:spLocks noGrp="1"/>
          </p:cNvSpPr>
          <p:nvPr/>
        </p:nvSpPr>
        <p:spPr>
          <a:xfrm>
            <a:off x="471486" y="432000"/>
            <a:ext cx="10336212" cy="238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3370BFBF-A0FB-59C1-5E14-50416EED8A21}"/>
              </a:ext>
            </a:extLst>
          </p:cNvPr>
          <p:cNvSpPr>
            <a:spLocks noGrp="1"/>
          </p:cNvSpPr>
          <p:nvPr/>
        </p:nvSpPr>
        <p:spPr>
          <a:xfrm>
            <a:off x="471637" y="548642"/>
            <a:ext cx="10336061" cy="5445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de-DE" dirty="0">
                <a:latin typeface="Segoe UI"/>
                <a:cs typeface="Segoe UI"/>
              </a:rPr>
              <a:t>Code-Ausschnitt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991A98E-853D-9388-F513-210EBF6AA0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65603AC-598C-277D-D508-CE871060C666}"/>
              </a:ext>
            </a:extLst>
          </p:cNvPr>
          <p:cNvSpPr txBox="1"/>
          <p:nvPr/>
        </p:nvSpPr>
        <p:spPr>
          <a:xfrm>
            <a:off x="9493857" y="1033669"/>
            <a:ext cx="2499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Definition der Ticket-Klasse. 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Zentrales Datenmodell</a:t>
            </a:r>
          </a:p>
          <a:p>
            <a:pPr marL="285750" indent="-285750">
              <a:buFontTx/>
              <a:buChar char="-"/>
            </a:pPr>
            <a:r>
              <a:rPr lang="de-DE" dirty="0"/>
              <a:t>Private Attribute: </a:t>
            </a:r>
            <a:r>
              <a:rPr lang="de-DE" dirty="0" err="1">
                <a:solidFill>
                  <a:srgbClr val="FFC000"/>
                </a:solidFill>
              </a:rPr>
              <a:t>ticket_id</a:t>
            </a:r>
            <a:r>
              <a:rPr lang="de-DE" dirty="0"/>
              <a:t>, </a:t>
            </a:r>
            <a:r>
              <a:rPr lang="de-DE" dirty="0">
                <a:solidFill>
                  <a:srgbClr val="FFC000"/>
                </a:solidFill>
              </a:rPr>
              <a:t>title</a:t>
            </a:r>
            <a:r>
              <a:rPr lang="de-DE" dirty="0"/>
              <a:t>, </a:t>
            </a:r>
            <a:r>
              <a:rPr lang="de-DE" dirty="0" err="1">
                <a:solidFill>
                  <a:srgbClr val="FFC000"/>
                </a:solidFill>
              </a:rPr>
              <a:t>priority</a:t>
            </a:r>
            <a:r>
              <a:rPr lang="de-DE" dirty="0"/>
              <a:t>, </a:t>
            </a:r>
            <a:r>
              <a:rPr lang="de-DE" dirty="0" err="1">
                <a:solidFill>
                  <a:srgbClr val="FFC000"/>
                </a:solidFill>
              </a:rPr>
              <a:t>due_date</a:t>
            </a:r>
            <a:endParaRPr lang="de-DE" dirty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/>
              <a:t>Getter/Setter</a:t>
            </a:r>
          </a:p>
          <a:p>
            <a:pPr marL="285750" indent="-285750">
              <a:buFontTx/>
              <a:buChar char="-"/>
            </a:pPr>
            <a:r>
              <a:rPr lang="de-DE" dirty="0"/>
              <a:t> </a:t>
            </a:r>
            <a:r>
              <a:rPr lang="de-DE" dirty="0" err="1">
                <a:solidFill>
                  <a:srgbClr val="FFC000"/>
                </a:solidFill>
              </a:rPr>
              <a:t>to_list</a:t>
            </a:r>
            <a:r>
              <a:rPr lang="de-DE" dirty="0">
                <a:solidFill>
                  <a:srgbClr val="FFC000"/>
                </a:solidFill>
              </a:rPr>
              <a:t>() </a:t>
            </a:r>
            <a:r>
              <a:rPr lang="de-DE" dirty="0"/>
              <a:t>für CSV-Speicherung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Flexibel, wartbar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1CD25C5-2733-A39E-D891-F147C782E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0" y="919040"/>
            <a:ext cx="9192908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7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bgerundetes Rechteck 54">
            <a:extLst>
              <a:ext uri="{FF2B5EF4-FFF2-40B4-BE49-F238E27FC236}">
                <a16:creationId xmlns:a16="http://schemas.microsoft.com/office/drawing/2014/main" id="{9745D440-E44F-FEDC-023A-956BF08E646B}"/>
              </a:ext>
            </a:extLst>
          </p:cNvPr>
          <p:cNvSpPr/>
          <p:nvPr/>
        </p:nvSpPr>
        <p:spPr>
          <a:xfrm>
            <a:off x="8360198" y="2240879"/>
            <a:ext cx="3120571" cy="2747403"/>
          </a:xfrm>
          <a:prstGeom prst="roundRect">
            <a:avLst>
              <a:gd name="adj" fmla="val 14848"/>
            </a:avLst>
          </a:prstGeom>
          <a:solidFill>
            <a:schemeClr val="bg1"/>
          </a:solidFill>
          <a:ln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b="1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9C8DF227-9089-49E0-1EB5-632A1C9227FF}"/>
              </a:ext>
            </a:extLst>
          </p:cNvPr>
          <p:cNvSpPr/>
          <p:nvPr/>
        </p:nvSpPr>
        <p:spPr>
          <a:xfrm>
            <a:off x="8597326" y="2577996"/>
            <a:ext cx="2608487" cy="7463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 dirty="0">
                <a:solidFill>
                  <a:srgbClr val="000000"/>
                </a:solidFill>
                <a:latin typeface="Segoe UI"/>
              </a:rPr>
              <a:t>Riesiger Code</a:t>
            </a:r>
          </a:p>
          <a:p>
            <a:pPr marL="0" marR="0" lvl="0" indent="0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Viel neues gelernt</a:t>
            </a:r>
          </a:p>
        </p:txBody>
      </p:sp>
      <p:sp>
        <p:nvSpPr>
          <p:cNvPr id="63" name="Abgerundetes Rechteck 62">
            <a:extLst>
              <a:ext uri="{FF2B5EF4-FFF2-40B4-BE49-F238E27FC236}">
                <a16:creationId xmlns:a16="http://schemas.microsoft.com/office/drawing/2014/main" id="{901C803B-F34F-97FB-5CC2-B7E4C870217D}"/>
              </a:ext>
            </a:extLst>
          </p:cNvPr>
          <p:cNvSpPr/>
          <p:nvPr/>
        </p:nvSpPr>
        <p:spPr>
          <a:xfrm>
            <a:off x="4254882" y="1786630"/>
            <a:ext cx="3507682" cy="4387370"/>
          </a:xfrm>
          <a:prstGeom prst="roundRect">
            <a:avLst>
              <a:gd name="adj" fmla="val 12942"/>
            </a:avLst>
          </a:prstGeom>
          <a:noFill/>
          <a:ln w="6350">
            <a:solidFill>
              <a:schemeClr val="accent2"/>
            </a:solidFill>
            <a:prstDash val="dash"/>
          </a:ln>
          <a:effectLst>
            <a:outerShdw blurRad="295650" sx="104664" sy="104664" algn="ctr" rotWithShape="0">
              <a:prstClr val="black">
                <a:alpha val="98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1C4DA5F-EF16-DF75-4AC4-0F009AE60D68}"/>
              </a:ext>
            </a:extLst>
          </p:cNvPr>
          <p:cNvSpPr txBox="1"/>
          <p:nvPr/>
        </p:nvSpPr>
        <p:spPr>
          <a:xfrm>
            <a:off x="4816538" y="1511558"/>
            <a:ext cx="2384370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Mögliche Erweiterung</a:t>
            </a:r>
            <a:endParaRPr lang="de-DE" sz="160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5" name="Abgerundetes Rechteck 64">
            <a:extLst>
              <a:ext uri="{FF2B5EF4-FFF2-40B4-BE49-F238E27FC236}">
                <a16:creationId xmlns:a16="http://schemas.microsoft.com/office/drawing/2014/main" id="{8816A592-E4F1-6F0B-1995-51560DB096A9}"/>
              </a:ext>
            </a:extLst>
          </p:cNvPr>
          <p:cNvSpPr/>
          <p:nvPr/>
        </p:nvSpPr>
        <p:spPr>
          <a:xfrm>
            <a:off x="4535714" y="2154811"/>
            <a:ext cx="3120571" cy="2747403"/>
          </a:xfrm>
          <a:prstGeom prst="roundRect">
            <a:avLst>
              <a:gd name="adj" fmla="val 14848"/>
            </a:avLst>
          </a:prstGeom>
          <a:solidFill>
            <a:schemeClr val="bg1"/>
          </a:solidFill>
          <a:ln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0F76FD5-663E-ECEE-453B-6D2E4134984F}"/>
              </a:ext>
            </a:extLst>
          </p:cNvPr>
          <p:cNvSpPr txBox="1"/>
          <p:nvPr/>
        </p:nvSpPr>
        <p:spPr>
          <a:xfrm>
            <a:off x="4662614" y="2577996"/>
            <a:ext cx="2692217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Weitere Kategorien</a:t>
            </a: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sz="1600" b="1" dirty="0">
              <a:solidFill>
                <a:srgbClr val="000000"/>
              </a:solidFill>
              <a:latin typeface="Segoe UI"/>
            </a:endParaRP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Weitere Anzeigemöglichkeiten</a:t>
            </a: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3" name="Abgerundetes Rechteck 72">
            <a:extLst>
              <a:ext uri="{FF2B5EF4-FFF2-40B4-BE49-F238E27FC236}">
                <a16:creationId xmlns:a16="http://schemas.microsoft.com/office/drawing/2014/main" id="{D3D88160-AAA6-76B2-306A-EED0C8BEA0E6}"/>
              </a:ext>
            </a:extLst>
          </p:cNvPr>
          <p:cNvSpPr/>
          <p:nvPr/>
        </p:nvSpPr>
        <p:spPr>
          <a:xfrm>
            <a:off x="8152610" y="1786630"/>
            <a:ext cx="3507682" cy="4387370"/>
          </a:xfrm>
          <a:prstGeom prst="roundRect">
            <a:avLst>
              <a:gd name="adj" fmla="val 12942"/>
            </a:avLst>
          </a:prstGeom>
          <a:noFill/>
          <a:ln w="6350">
            <a:solidFill>
              <a:schemeClr val="accent2"/>
            </a:solidFill>
            <a:prstDash val="dash"/>
          </a:ln>
          <a:effectLst>
            <a:outerShdw blurRad="295650" sx="104664" sy="104664" algn="ctr" rotWithShape="0">
              <a:prstClr val="black">
                <a:alpha val="98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1E6F32C4-6C8B-4BEE-A787-AC8AFAA6CBB0}"/>
              </a:ext>
            </a:extLst>
          </p:cNvPr>
          <p:cNvSpPr txBox="1"/>
          <p:nvPr/>
        </p:nvSpPr>
        <p:spPr>
          <a:xfrm>
            <a:off x="8570183" y="1511558"/>
            <a:ext cx="2635629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Fazit</a:t>
            </a:r>
            <a:endParaRPr lang="de-DE" sz="1600" dirty="0"/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B68AE7F7-687B-EE2C-5FF7-AD9D9201752E}"/>
              </a:ext>
            </a:extLst>
          </p:cNvPr>
          <p:cNvSpPr txBox="1">
            <a:spLocks/>
          </p:cNvSpPr>
          <p:nvPr/>
        </p:nvSpPr>
        <p:spPr>
          <a:xfrm>
            <a:off x="471486" y="684000"/>
            <a:ext cx="5808669" cy="23812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Abschließend</a:t>
            </a:r>
          </a:p>
        </p:txBody>
      </p:sp>
      <p:sp>
        <p:nvSpPr>
          <p:cNvPr id="80" name="Textplatzhalter 6">
            <a:extLst>
              <a:ext uri="{FF2B5EF4-FFF2-40B4-BE49-F238E27FC236}">
                <a16:creationId xmlns:a16="http://schemas.microsoft.com/office/drawing/2014/main" id="{FB39DC64-6517-D3E0-BE0D-07EF69B1E3C6}"/>
              </a:ext>
            </a:extLst>
          </p:cNvPr>
          <p:cNvSpPr txBox="1">
            <a:spLocks/>
          </p:cNvSpPr>
          <p:nvPr/>
        </p:nvSpPr>
        <p:spPr>
          <a:xfrm>
            <a:off x="471488" y="432000"/>
            <a:ext cx="5808754" cy="238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indent="0" algn="l" defTabSz="914400" rtl="0" eaLnBrk="1" latinLnBrk="0" hangingPunct="1">
              <a:buNone/>
              <a:defRPr sz="1000" b="1" kern="1200">
                <a:solidFill>
                  <a:schemeClr val="accent5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buNone/>
              <a:defRPr sz="9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accent4"/>
              </a:solidFill>
            </a:endParaRPr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A936C89B-A843-9CB1-C5C7-C10FC0FA6C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0164" y="431800"/>
            <a:ext cx="259200" cy="259200"/>
          </a:xfrm>
          <a:prstGeom prst="rect">
            <a:avLst/>
          </a:prstGeom>
        </p:spPr>
      </p:pic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D2966441-1A12-DD8C-EB9D-CB0FD1CD0D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7314" y="624363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91C1E-7A93-A045-A480-FC8C02E55DB0}" type="slidenum">
              <a:rPr lang="de-DE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11</a:t>
            </a:fld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Abgerundetes Rechteck 62">
            <a:extLst>
              <a:ext uri="{FF2B5EF4-FFF2-40B4-BE49-F238E27FC236}">
                <a16:creationId xmlns:a16="http://schemas.microsoft.com/office/drawing/2014/main" id="{C391DF1F-E25A-8331-BF71-CCEB88A09B8C}"/>
              </a:ext>
            </a:extLst>
          </p:cNvPr>
          <p:cNvSpPr/>
          <p:nvPr/>
        </p:nvSpPr>
        <p:spPr>
          <a:xfrm>
            <a:off x="424482" y="1786629"/>
            <a:ext cx="3507682" cy="4387370"/>
          </a:xfrm>
          <a:prstGeom prst="roundRect">
            <a:avLst>
              <a:gd name="adj" fmla="val 12942"/>
            </a:avLst>
          </a:prstGeom>
          <a:noFill/>
          <a:ln w="6350">
            <a:solidFill>
              <a:schemeClr val="accent2"/>
            </a:solidFill>
            <a:prstDash val="dash"/>
          </a:ln>
          <a:effectLst>
            <a:outerShdw blurRad="295650" sx="104664" sy="104664" algn="ctr" rotWithShape="0">
              <a:prstClr val="black">
                <a:alpha val="98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73BAE3F-C5FF-A388-05CB-4783EDF47DD5}"/>
              </a:ext>
            </a:extLst>
          </p:cNvPr>
          <p:cNvSpPr txBox="1"/>
          <p:nvPr/>
        </p:nvSpPr>
        <p:spPr>
          <a:xfrm>
            <a:off x="1016610" y="1511558"/>
            <a:ext cx="225635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Herausforderungen und Lösungen</a:t>
            </a:r>
          </a:p>
        </p:txBody>
      </p:sp>
      <p:sp>
        <p:nvSpPr>
          <p:cNvPr id="5" name="Abgerundetes Rechteck 64">
            <a:extLst>
              <a:ext uri="{FF2B5EF4-FFF2-40B4-BE49-F238E27FC236}">
                <a16:creationId xmlns:a16="http://schemas.microsoft.com/office/drawing/2014/main" id="{F636E581-4244-1E2A-81A5-F608465C849D}"/>
              </a:ext>
            </a:extLst>
          </p:cNvPr>
          <p:cNvSpPr/>
          <p:nvPr/>
        </p:nvSpPr>
        <p:spPr>
          <a:xfrm>
            <a:off x="654571" y="2240878"/>
            <a:ext cx="3120571" cy="2747403"/>
          </a:xfrm>
          <a:prstGeom prst="roundRect">
            <a:avLst>
              <a:gd name="adj" fmla="val 14848"/>
            </a:avLst>
          </a:prstGeom>
          <a:solidFill>
            <a:schemeClr val="bg1"/>
          </a:solidFill>
          <a:ln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3942EAE-69A0-26FD-A803-354C507EEFCA}"/>
              </a:ext>
            </a:extLst>
          </p:cNvPr>
          <p:cNvSpPr txBox="1"/>
          <p:nvPr/>
        </p:nvSpPr>
        <p:spPr>
          <a:xfrm>
            <a:off x="965418" y="2580962"/>
            <a:ext cx="2498879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GUI (Benutzer Oberfläche</a:t>
            </a: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sz="1600" b="1" dirty="0">
              <a:solidFill>
                <a:srgbClr val="000000"/>
              </a:solidFill>
              <a:latin typeface="Segoe UI"/>
            </a:endParaRP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Rieser Code</a:t>
            </a: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sz="1600" b="1" dirty="0">
              <a:solidFill>
                <a:srgbClr val="000000"/>
              </a:solidFill>
              <a:latin typeface="Segoe UI"/>
            </a:endParaRP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Viele Anforderungen, viel Recherche</a:t>
            </a: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sz="1600" b="1" dirty="0">
              <a:solidFill>
                <a:srgbClr val="000000"/>
              </a:solidFill>
              <a:latin typeface="Segoe UI"/>
            </a:endParaRPr>
          </a:p>
          <a:p>
            <a:pPr marL="0" marR="0" lvl="2" algn="l" defTabSz="914400" rtl="0" eaLnBrk="1" fontAlgn="auto" latinLnBrk="0" hangingPunct="1">
              <a:lnSpc>
                <a:spcPts val="164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506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netgo">
      <a:dk1>
        <a:srgbClr val="000000"/>
      </a:dk1>
      <a:lt1>
        <a:srgbClr val="FFFFFF"/>
      </a:lt1>
      <a:dk2>
        <a:srgbClr val="B34E19"/>
      </a:dk2>
      <a:lt2>
        <a:srgbClr val="E8E8E8"/>
      </a:lt2>
      <a:accent1>
        <a:srgbClr val="343433"/>
      </a:accent1>
      <a:accent2>
        <a:srgbClr val="E97132"/>
      </a:accent2>
      <a:accent3>
        <a:srgbClr val="D65F1F"/>
      </a:accent3>
      <a:accent4>
        <a:srgbClr val="EE7103"/>
      </a:accent4>
      <a:accent5>
        <a:srgbClr val="ECAA83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nternehmenspraesentation_kompakt" id="{E2C34D1A-ACAB-D641-9ED9-18B05CC5CF72}" vid="{E510E3E2-FA11-FC4F-BF93-D4131D0404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6d7e30-83d0-4e28-91d1-5ecdcdcc3e31">
      <Terms xmlns="http://schemas.microsoft.com/office/infopath/2007/PartnerControls"/>
    </lcf76f155ced4ddcb4097134ff3c332f>
    <TaxCatchAll xmlns="6fff6b9b-c28e-4031-a1f8-d0113b6c99e2" xsi:nil="true"/>
    <Email xmlns="406d7e30-83d0-4e28-91d1-5ecdcdcc3e31">
      <Url xsi:nil="true"/>
      <Description xsi:nil="true"/>
    </Email>
    <mevb xmlns="406d7e30-83d0-4e28-91d1-5ecdcdcc3e31">
      <UserInfo>
        <DisplayName/>
        <AccountId xsi:nil="true"/>
        <AccountType/>
      </UserInfo>
    </mevb>
    <_x0075_qe5 xmlns="406d7e30-83d0-4e28-91d1-5ecdcdcc3e31" xsi:nil="true"/>
    <ewzg xmlns="406d7e30-83d0-4e28-91d1-5ecdcdcc3e31" xsi:nil="true"/>
    <Unternehmen xmlns="406d7e30-83d0-4e28-91d1-5ecdcdcc3e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4C6B9CB95B7A64A912E45436AF4DDA4" ma:contentTypeVersion="25" ma:contentTypeDescription="Ein neues Dokument erstellen." ma:contentTypeScope="" ma:versionID="844d056f982687cb2f4232b07d2f239b">
  <xsd:schema xmlns:xsd="http://www.w3.org/2001/XMLSchema" xmlns:xs="http://www.w3.org/2001/XMLSchema" xmlns:p="http://schemas.microsoft.com/office/2006/metadata/properties" xmlns:ns2="406d7e30-83d0-4e28-91d1-5ecdcdcc3e31" xmlns:ns3="6fff6b9b-c28e-4031-a1f8-d0113b6c99e2" targetNamespace="http://schemas.microsoft.com/office/2006/metadata/properties" ma:root="true" ma:fieldsID="044d95369015e766aa4b896735e2e376" ns2:_="" ns3:_="">
    <xsd:import namespace="406d7e30-83d0-4e28-91d1-5ecdcdcc3e31"/>
    <xsd:import namespace="6fff6b9b-c28e-4031-a1f8-d0113b6c99e2"/>
    <xsd:element name="properties">
      <xsd:complexType>
        <xsd:sequence>
          <xsd:element name="documentManagement">
            <xsd:complexType>
              <xsd:all>
                <xsd:element ref="ns2:ewzg" minOccurs="0"/>
                <xsd:element ref="ns2:_x0075_qe5" minOccurs="0"/>
                <xsd:element ref="ns2:MediaServiceMetadata" minOccurs="0"/>
                <xsd:element ref="ns2:MediaServiceFastMetadata" minOccurs="0"/>
                <xsd:element ref="ns2:Unternehmen" minOccurs="0"/>
                <xsd:element ref="ns2:Email" minOccurs="0"/>
                <xsd:element ref="ns2:mevb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6d7e30-83d0-4e28-91d1-5ecdcdcc3e31" elementFormDefault="qualified">
    <xsd:import namespace="http://schemas.microsoft.com/office/2006/documentManagement/types"/>
    <xsd:import namespace="http://schemas.microsoft.com/office/infopath/2007/PartnerControls"/>
    <xsd:element name="ewzg" ma:index="8" nillable="true" ma:displayName="Klassifizierung" ma:format="Dropdown" ma:indexed="true" ma:internalName="ewzg">
      <xsd:simpleType>
        <xsd:restriction base="dms:Choice">
          <xsd:enumeration value="internal use only"/>
          <xsd:enumeration value="customer / external use"/>
        </xsd:restriction>
      </xsd:simpleType>
    </xsd:element>
    <xsd:element name="_x0075_qe5" ma:index="9" nillable="true" ma:displayName="Dokumentenart" ma:format="Dropdown" ma:indexed="true" ma:internalName="_x0075_qe5">
      <xsd:simpleType>
        <xsd:restriction base="dms:Choice">
          <xsd:enumeration value="Geschäftspapier"/>
          <xsd:enumeration value="Corporate Design"/>
          <xsd:enumeration value="Konzeptvorlagen"/>
          <xsd:enumeration value="Präsentationen"/>
          <xsd:enumeration value="Bildmaterial"/>
          <xsd:enumeration value="Success Stories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Unternehmen" ma:index="12" nillable="true" ma:displayName="Unternehmen" ma:format="Dropdown" ma:indexed="true" ma:internalName="Unternehmen">
      <xsd:simpleType>
        <xsd:restriction base="dms:Choice">
          <xsd:enumeration value="CONTENiT GmbH"/>
          <xsd:enumeration value="netgo GmbH"/>
          <xsd:enumeration value="netgo group"/>
          <xsd:enumeration value="netgo software GmbH"/>
          <xsd:enumeration value="SILA Consulting GmbH"/>
        </xsd:restriction>
      </xsd:simpleType>
    </xsd:element>
    <xsd:element name="Email" ma:index="13" nillable="true" ma:displayName="Feedback an:" ma:format="Hyperlink" ma:internalName="Emai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vb" ma:index="14" nillable="true" ma:displayName="Person oder Gruppe" ma:list="UserInfo" ma:internalName="mevb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Bildmarkierungen" ma:readOnly="false" ma:fieldId="{5cf76f15-5ced-4ddc-b409-7134ff3c332f}" ma:taxonomyMulti="true" ma:sspId="8ab6be12-4a09-4268-a699-4fedeac921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f6b9b-c28e-4031-a1f8-d0113b6c99e2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0130359-bf63-425b-b35f-c834d7625702}" ma:internalName="TaxCatchAll" ma:showField="CatchAllData" ma:web="6fff6b9b-c28e-4031-a1f8-d0113b6c99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787F52-B427-4293-AA7F-22B2C9514C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A10671-C189-4BBF-BB55-C1CA24236DD3}">
  <ds:schemaRefs>
    <ds:schemaRef ds:uri="406d7e30-83d0-4e28-91d1-5ecdcdcc3e31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6fff6b9b-c28e-4031-a1f8-d0113b6c99e2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6A50E18-CF43-4584-A1F5-E15991784F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6d7e30-83d0-4e28-91d1-5ecdcdcc3e31"/>
    <ds:schemaRef ds:uri="6fff6b9b-c28e-4031-a1f8-d0113b6c99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Flo,Jamie,Basti</Template>
  <TotalTime>0</TotalTime>
  <Words>194</Words>
  <Application>Microsoft Office PowerPoint</Application>
  <PresentationFormat>Breitbild</PresentationFormat>
  <Paragraphs>86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Segoe UI</vt:lpstr>
      <vt:lpstr>Office</vt:lpstr>
      <vt:lpstr>PowerPoint-Präsentation</vt:lpstr>
      <vt:lpstr>Inhaltsverzeichnis</vt:lpstr>
      <vt:lpstr>PowerPoint-Präsentation</vt:lpstr>
      <vt:lpstr>Projektplanung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NETGO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Csunderlik</dc:creator>
  <cp:lastModifiedBy>Jamie-Dee Zielke</cp:lastModifiedBy>
  <cp:revision>2</cp:revision>
  <dcterms:created xsi:type="dcterms:W3CDTF">2025-05-27T10:58:00Z</dcterms:created>
  <dcterms:modified xsi:type="dcterms:W3CDTF">2026-03-11T13:48:34Z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38a3005-c6ad-4872-9482-38517ac241cf_Enabled">
    <vt:lpwstr>true</vt:lpwstr>
  </property>
  <property fmtid="{D5CDD505-2E9C-101B-9397-08002B2CF9AE}" pid="3" name="MSIP_Label_538a3005-c6ad-4872-9482-38517ac241cf_SetDate">
    <vt:lpwstr>2024-05-16T10:54:53Z</vt:lpwstr>
  </property>
  <property fmtid="{D5CDD505-2E9C-101B-9397-08002B2CF9AE}" pid="4" name="MSIP_Label_538a3005-c6ad-4872-9482-38517ac241cf_Method">
    <vt:lpwstr>Standard</vt:lpwstr>
  </property>
  <property fmtid="{D5CDD505-2E9C-101B-9397-08002B2CF9AE}" pid="5" name="MSIP_Label_538a3005-c6ad-4872-9482-38517ac241cf_Name">
    <vt:lpwstr>netgo intern</vt:lpwstr>
  </property>
  <property fmtid="{D5CDD505-2E9C-101B-9397-08002B2CF9AE}" pid="6" name="MSIP_Label_538a3005-c6ad-4872-9482-38517ac241cf_SiteId">
    <vt:lpwstr>a80318cd-cd6f-4d2e-83bb-ce3d4140f8b7</vt:lpwstr>
  </property>
  <property fmtid="{D5CDD505-2E9C-101B-9397-08002B2CF9AE}" pid="7" name="MSIP_Label_538a3005-c6ad-4872-9482-38517ac241cf_ActionId">
    <vt:lpwstr>a7a13e5f-bc1b-4c47-bcb2-0a3562751d17</vt:lpwstr>
  </property>
  <property fmtid="{D5CDD505-2E9C-101B-9397-08002B2CF9AE}" pid="8" name="MSIP_Label_538a3005-c6ad-4872-9482-38517ac241cf_ContentBits">
    <vt:lpwstr>2</vt:lpwstr>
  </property>
  <property fmtid="{D5CDD505-2E9C-101B-9397-08002B2CF9AE}" pid="9" name="ClassificationContentMarkingFooterLocations">
    <vt:lpwstr>Office:8</vt:lpwstr>
  </property>
  <property fmtid="{D5CDD505-2E9C-101B-9397-08002B2CF9AE}" pid="10" name="ClassificationContentMarkingFooterText">
    <vt:lpwstr>Vertraulichkeitsstufe: netgo intern</vt:lpwstr>
  </property>
  <property fmtid="{D5CDD505-2E9C-101B-9397-08002B2CF9AE}" pid="11" name="ContentTypeId">
    <vt:lpwstr>0x010100F4C6B9CB95B7A64A912E45436AF4DDA4</vt:lpwstr>
  </property>
  <property fmtid="{D5CDD505-2E9C-101B-9397-08002B2CF9AE}" pid="12" name="MediaServiceImageTags">
    <vt:lpwstr/>
  </property>
</Properties>
</file>